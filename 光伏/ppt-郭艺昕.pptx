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1" r:id="rId4"/>
    <p:sldId id="257" r:id="rId5"/>
    <p:sldId id="258" r:id="rId6"/>
    <p:sldId id="263" r:id="rId7"/>
    <p:sldId id="264" r:id="rId8"/>
    <p:sldId id="266" r:id="rId9"/>
    <p:sldId id="265" r:id="rId10"/>
    <p:sldId id="26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9F4"/>
    <a:srgbClr val="126334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8"/>
        <p:guide pos="382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6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tags" Target="../tags/tag64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68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tags" Target="../tags/tag6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7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tags" Target="../tags/tag70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74.xml"/><Relationship Id="rId5" Type="http://schemas.openxmlformats.org/officeDocument/2006/relationships/image" Target="../media/image3.png"/><Relationship Id="rId4" Type="http://schemas.openxmlformats.org/officeDocument/2006/relationships/tags" Target="../tags/tag73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77.xml"/><Relationship Id="rId5" Type="http://schemas.openxmlformats.org/officeDocument/2006/relationships/image" Target="../media/image3.png"/><Relationship Id="rId4" Type="http://schemas.openxmlformats.org/officeDocument/2006/relationships/tags" Target="../tags/tag76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image" Target="../media/image3.png"/><Relationship Id="rId4" Type="http://schemas.openxmlformats.org/officeDocument/2006/relationships/tags" Target="../tags/tag79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83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image" Target="../media/image3.png"/><Relationship Id="rId4" Type="http://schemas.openxmlformats.org/officeDocument/2006/relationships/tags" Target="../tags/tag85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89.xml"/><Relationship Id="rId1" Type="http://schemas.openxmlformats.org/officeDocument/2006/relationships/tags" Target="../tags/tag8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image" Target="../media/image3.png"/><Relationship Id="rId4" Type="http://schemas.openxmlformats.org/officeDocument/2006/relationships/tags" Target="../tags/tag9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95.xml"/><Relationship Id="rId1" Type="http://schemas.openxmlformats.org/officeDocument/2006/relationships/tags" Target="../tags/tag9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image" Target="../media/image3.png"/><Relationship Id="rId4" Type="http://schemas.openxmlformats.org/officeDocument/2006/relationships/tags" Target="../tags/tag9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101.xml"/><Relationship Id="rId1" Type="http://schemas.openxmlformats.org/officeDocument/2006/relationships/tags" Target="../tags/tag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绿块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22803"/>
          <a:stretch>
            <a:fillRect/>
          </a:stretch>
        </p:blipFill>
        <p:spPr>
          <a:xfrm>
            <a:off x="0" y="-51435"/>
            <a:ext cx="12192000" cy="1031875"/>
          </a:xfrm>
          <a:prstGeom prst="rect">
            <a:avLst/>
          </a:prstGeom>
        </p:spPr>
      </p:pic>
      <p:pic>
        <p:nvPicPr>
          <p:cNvPr id="12" name="图片 11" descr="透明渐变树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379730" y="-635"/>
            <a:ext cx="10378440" cy="7340600"/>
          </a:xfrm>
          <a:prstGeom prst="rect">
            <a:avLst/>
          </a:prstGeom>
        </p:spPr>
      </p:pic>
      <p:pic>
        <p:nvPicPr>
          <p:cNvPr id="18" name="图片 17" descr="bjfu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344535" y="-687070"/>
            <a:ext cx="3847465" cy="22485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15900" y="14224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>
                <a:solidFill>
                  <a:schemeClr val="bg1"/>
                </a:solidFill>
              </a:rPr>
              <a:t>需求分析</a:t>
            </a:r>
            <a:endParaRPr lang="zh-CN" altLang="en-US" sz="3600" b="1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85235" y="202883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28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分布式光伏管理业务线</a:t>
            </a:r>
            <a:endParaRPr lang="zh-CN" altLang="en-US" sz="28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" name="图片 2" descr="数据流图和用例图.drawi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115" y="992505"/>
            <a:ext cx="5938520" cy="5450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7965" y="6381115"/>
            <a:ext cx="3258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分布式光伏管理业务数据流图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863080" y="2840990"/>
            <a:ext cx="48660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覆盖</a:t>
            </a:r>
            <a:r>
              <a:rPr lang="en-US" altLang="zh-CN"/>
              <a:t> </a:t>
            </a:r>
            <a:r>
              <a:rPr lang="en-US" altLang="zh-CN" b="1">
                <a:solidFill>
                  <a:srgbClr val="FF0000"/>
                </a:solidFill>
              </a:rPr>
              <a:t>“</a:t>
            </a:r>
            <a:r>
              <a:rPr lang="zh-CN" altLang="en-US" b="1">
                <a:solidFill>
                  <a:srgbClr val="FF0000"/>
                </a:solidFill>
              </a:rPr>
              <a:t>数据采集</a:t>
            </a:r>
            <a:r>
              <a:rPr lang="en-US" altLang="zh-CN" b="1">
                <a:solidFill>
                  <a:srgbClr val="FF0000"/>
                </a:solidFill>
              </a:rPr>
              <a:t> - </a:t>
            </a:r>
            <a:r>
              <a:rPr lang="zh-CN" altLang="en-US" b="1">
                <a:solidFill>
                  <a:srgbClr val="FF0000"/>
                </a:solidFill>
              </a:rPr>
              <a:t>分析</a:t>
            </a:r>
            <a:r>
              <a:rPr lang="en-US" altLang="zh-CN" b="1">
                <a:solidFill>
                  <a:srgbClr val="FF0000"/>
                </a:solidFill>
              </a:rPr>
              <a:t> - </a:t>
            </a:r>
            <a:r>
              <a:rPr lang="zh-CN" altLang="en-US" b="1">
                <a:solidFill>
                  <a:srgbClr val="FF0000"/>
                </a:solidFill>
              </a:rPr>
              <a:t>运维</a:t>
            </a:r>
            <a:r>
              <a:rPr lang="en-US" altLang="zh-CN" b="1">
                <a:solidFill>
                  <a:srgbClr val="FF0000"/>
                </a:solidFill>
              </a:rPr>
              <a:t> - </a:t>
            </a:r>
            <a:r>
              <a:rPr lang="zh-CN" altLang="en-US" b="1">
                <a:solidFill>
                  <a:srgbClr val="FF0000"/>
                </a:solidFill>
              </a:rPr>
              <a:t>展示</a:t>
            </a:r>
            <a:r>
              <a:rPr lang="en-US" altLang="zh-CN" b="1">
                <a:solidFill>
                  <a:srgbClr val="FF0000"/>
                </a:solidFill>
              </a:rPr>
              <a:t>”</a:t>
            </a:r>
            <a:r>
              <a:rPr lang="en-US" altLang="zh-CN"/>
              <a:t> </a:t>
            </a:r>
            <a:r>
              <a:rPr lang="zh-CN" altLang="en-US"/>
              <a:t>全流程：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▪"/>
            </a:pPr>
            <a:r>
              <a:rPr lang="zh-CN" altLang="en-US"/>
              <a:t>光伏设备生成发电数据，经预测模型分析，产生预测数据；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▪"/>
            </a:pPr>
            <a:r>
              <a:rPr lang="zh-CN" altLang="en-US"/>
              <a:t>计算预测偏差并分析，进行模型优化；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▪"/>
            </a:pPr>
            <a:r>
              <a:rPr lang="zh-CN" altLang="en-US"/>
              <a:t>异常数据触发告警、推送运维清单；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▪"/>
            </a:pPr>
            <a:r>
              <a:rPr lang="zh-CN" altLang="en-US"/>
              <a:t>设备信息同步台账，汇总数据支撑大屏展示。</a:t>
            </a:r>
            <a:endParaRPr lang="zh-CN" altLang="en-US"/>
          </a:p>
        </p:txBody>
      </p:sp>
    </p:spTree>
    <p:custDataLst>
      <p:tags r:id="rId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绿块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22803"/>
          <a:stretch>
            <a:fillRect/>
          </a:stretch>
        </p:blipFill>
        <p:spPr>
          <a:xfrm>
            <a:off x="0" y="-51435"/>
            <a:ext cx="12192000" cy="1031875"/>
          </a:xfrm>
          <a:prstGeom prst="rect">
            <a:avLst/>
          </a:prstGeom>
        </p:spPr>
      </p:pic>
      <p:pic>
        <p:nvPicPr>
          <p:cNvPr id="12" name="图片 11" descr="透明渐变树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379730" y="-635"/>
            <a:ext cx="10378440" cy="7340600"/>
          </a:xfrm>
          <a:prstGeom prst="rect">
            <a:avLst/>
          </a:prstGeom>
        </p:spPr>
      </p:pic>
      <p:pic>
        <p:nvPicPr>
          <p:cNvPr id="18" name="图片 17" descr="bjfu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344535" y="-687070"/>
            <a:ext cx="3847465" cy="22485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15900" y="14224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>
                <a:solidFill>
                  <a:schemeClr val="bg1"/>
                </a:solidFill>
              </a:rPr>
              <a:t>需求分析</a:t>
            </a:r>
            <a:endParaRPr lang="zh-CN" altLang="en-US" sz="3600" b="1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85235" y="202883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28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分布式光伏管理业务线</a:t>
            </a:r>
            <a:endParaRPr lang="zh-CN" altLang="en-US" sz="28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55115" y="6381115"/>
            <a:ext cx="3258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分布式光伏管理业务用例图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539230" y="2967990"/>
            <a:ext cx="54102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▪"/>
            </a:pPr>
            <a:r>
              <a:rPr lang="zh-CN" altLang="en-US" b="1">
                <a:solidFill>
                  <a:srgbClr val="FF0000"/>
                </a:solidFill>
              </a:rPr>
              <a:t>设备管理员：</a:t>
            </a:r>
            <a:r>
              <a:rPr lang="zh-CN" altLang="en-US"/>
              <a:t>负责光伏设备信息管理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▪"/>
            </a:pPr>
            <a:r>
              <a:rPr lang="zh-CN" altLang="en-US" b="1">
                <a:solidFill>
                  <a:srgbClr val="FF0000"/>
                </a:solidFill>
              </a:rPr>
              <a:t>运维人员：</a:t>
            </a:r>
            <a:r>
              <a:rPr lang="zh-CN" altLang="en-US"/>
              <a:t>处理异常数据、更新设备状态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▪"/>
            </a:pPr>
            <a:r>
              <a:rPr lang="zh-CN" altLang="en-US" b="1">
                <a:solidFill>
                  <a:srgbClr val="FF0000"/>
                </a:solidFill>
              </a:rPr>
              <a:t>数据分析师：</a:t>
            </a:r>
            <a:r>
              <a:rPr lang="zh-CN" altLang="en-US"/>
              <a:t>开展预测偏差分析、优化预测模型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075" y="1007745"/>
            <a:ext cx="4146550" cy="537337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绿块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22803"/>
          <a:stretch>
            <a:fillRect/>
          </a:stretch>
        </p:blipFill>
        <p:spPr>
          <a:xfrm>
            <a:off x="0" y="-51435"/>
            <a:ext cx="12192000" cy="1031875"/>
          </a:xfrm>
          <a:prstGeom prst="rect">
            <a:avLst/>
          </a:prstGeom>
        </p:spPr>
      </p:pic>
      <p:pic>
        <p:nvPicPr>
          <p:cNvPr id="12" name="图片 11" descr="透明渐变树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379730" y="-635"/>
            <a:ext cx="10378440" cy="7340600"/>
          </a:xfrm>
          <a:prstGeom prst="rect">
            <a:avLst/>
          </a:prstGeom>
        </p:spPr>
      </p:pic>
      <p:pic>
        <p:nvPicPr>
          <p:cNvPr id="18" name="图片 17" descr="bjfu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344535" y="-687070"/>
            <a:ext cx="3847465" cy="22485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68300" y="14224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>
                <a:solidFill>
                  <a:schemeClr val="bg1"/>
                </a:solidFill>
              </a:rPr>
              <a:t>概念结构</a:t>
            </a:r>
            <a:r>
              <a:rPr lang="zh-CN" altLang="en-US" sz="3600" b="1">
                <a:solidFill>
                  <a:schemeClr val="bg1"/>
                </a:solidFill>
              </a:rPr>
              <a:t>设计</a:t>
            </a:r>
            <a:endParaRPr lang="zh-CN" altLang="en-US" sz="3600" b="1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85235" y="202883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28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分布式光伏管理业务线</a:t>
            </a:r>
            <a:endParaRPr lang="zh-CN" altLang="en-US" sz="28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7" name="图片 6" descr="分布式光伏发电业务线.drawi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70" y="980440"/>
            <a:ext cx="7596505" cy="5295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246630" y="6381115"/>
            <a:ext cx="3258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分布式光伏管理业务</a:t>
            </a:r>
            <a:r>
              <a:rPr lang="en-US" altLang="zh-CN"/>
              <a:t>E-R</a:t>
            </a:r>
            <a:r>
              <a:rPr lang="zh-CN" altLang="en-US"/>
              <a:t>图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945120" y="3167380"/>
            <a:ext cx="39998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▪"/>
            </a:pPr>
            <a:r>
              <a:rPr lang="en-US" altLang="zh-CN" b="1">
                <a:solidFill>
                  <a:srgbClr val="FF0000"/>
                </a:solidFill>
              </a:rPr>
              <a:t>1 </a:t>
            </a:r>
            <a:r>
              <a:rPr lang="zh-CN" altLang="en-US"/>
              <a:t>个光伏设备生成</a:t>
            </a:r>
            <a:r>
              <a:rPr lang="en-US" altLang="zh-CN" b="1">
                <a:solidFill>
                  <a:srgbClr val="FF0000"/>
                </a:solidFill>
              </a:rPr>
              <a:t> n </a:t>
            </a:r>
            <a:r>
              <a:rPr lang="zh-CN" altLang="en-US"/>
              <a:t>条发电数据、对应</a:t>
            </a:r>
            <a:r>
              <a:rPr lang="en-US" altLang="zh-CN"/>
              <a:t> </a:t>
            </a:r>
            <a:r>
              <a:rPr lang="en-US" altLang="zh-CN" b="1">
                <a:solidFill>
                  <a:srgbClr val="FF0000"/>
                </a:solidFill>
              </a:rPr>
              <a:t>n </a:t>
            </a:r>
            <a:r>
              <a:rPr lang="zh-CN" altLang="en-US"/>
              <a:t>条预测数据；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▪"/>
            </a:pPr>
            <a:r>
              <a:rPr lang="en-US" altLang="zh-CN" b="1">
                <a:solidFill>
                  <a:srgbClr val="FF0000"/>
                </a:solidFill>
              </a:rPr>
              <a:t>1 </a:t>
            </a:r>
            <a:r>
              <a:rPr lang="zh-CN" altLang="en-US"/>
              <a:t>条发电数据关联</a:t>
            </a:r>
            <a:r>
              <a:rPr lang="en-US" altLang="zh-CN"/>
              <a:t> </a:t>
            </a:r>
            <a:r>
              <a:rPr lang="en-US" altLang="zh-CN" b="1">
                <a:solidFill>
                  <a:srgbClr val="FF0000"/>
                </a:solidFill>
              </a:rPr>
              <a:t>1 </a:t>
            </a:r>
            <a:r>
              <a:rPr lang="zh-CN" altLang="en-US"/>
              <a:t>条预测数据；</a:t>
            </a:r>
            <a:endParaRPr lang="zh-CN" altLang="en-US"/>
          </a:p>
        </p:txBody>
      </p:sp>
    </p:spTree>
    <p:custDataLst>
      <p:tags r:id="rId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绿块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22803"/>
          <a:stretch>
            <a:fillRect/>
          </a:stretch>
        </p:blipFill>
        <p:spPr>
          <a:xfrm>
            <a:off x="0" y="-51435"/>
            <a:ext cx="12192000" cy="1031875"/>
          </a:xfrm>
          <a:prstGeom prst="rect">
            <a:avLst/>
          </a:prstGeom>
        </p:spPr>
      </p:pic>
      <p:pic>
        <p:nvPicPr>
          <p:cNvPr id="12" name="图片 11" descr="透明渐变树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379730" y="-635"/>
            <a:ext cx="10378440" cy="7340600"/>
          </a:xfrm>
          <a:prstGeom prst="rect">
            <a:avLst/>
          </a:prstGeom>
        </p:spPr>
      </p:pic>
      <p:pic>
        <p:nvPicPr>
          <p:cNvPr id="18" name="图片 17" descr="bjfu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344535" y="-687070"/>
            <a:ext cx="3847465" cy="22485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68300" y="14224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>
                <a:solidFill>
                  <a:schemeClr val="bg1"/>
                </a:solidFill>
              </a:rPr>
              <a:t>逻辑结构</a:t>
            </a:r>
            <a:r>
              <a:rPr lang="zh-CN" altLang="en-US" sz="3600" b="1">
                <a:solidFill>
                  <a:schemeClr val="bg1"/>
                </a:solidFill>
              </a:rPr>
              <a:t>设计</a:t>
            </a:r>
            <a:endParaRPr lang="zh-CN" altLang="en-US" sz="3600" b="1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5100" y="11080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785235" y="202883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28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分布式光伏管理业务线</a:t>
            </a:r>
            <a:endParaRPr lang="zh-CN" altLang="en-US" sz="28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103505" y="1270000"/>
          <a:ext cx="11984990" cy="5850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8210"/>
                <a:gridCol w="2131695"/>
                <a:gridCol w="2131695"/>
                <a:gridCol w="2131695"/>
                <a:gridCol w="2131695"/>
              </a:tblGrid>
              <a:tr h="7004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关系模式名</a:t>
                      </a:r>
                      <a:endParaRPr lang="zh-CN" altLang="en-US" sz="1600"/>
                    </a:p>
                  </a:txBody>
                  <a:tcPr anchor="ctr" anchorCtr="0">
                    <a:lnL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12633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属性</a:t>
                      </a:r>
                      <a:endParaRPr lang="zh-CN" altLang="en-US" sz="16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12633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主码</a:t>
                      </a:r>
                      <a:endParaRPr lang="zh-CN" altLang="en-US" sz="16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12633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外码</a:t>
                      </a:r>
                      <a:endParaRPr lang="zh-CN" altLang="en-US" sz="16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12633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范式</a:t>
                      </a:r>
                      <a:endParaRPr lang="zh-CN" altLang="en-US" sz="16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126334"/>
                    </a:solidFill>
                  </a:tcPr>
                </a:tc>
              </a:tr>
              <a:tr h="7004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光伏设备</a:t>
                      </a:r>
                      <a:endParaRPr lang="zh-CN" altLang="en-US" sz="1400"/>
                    </a:p>
                  </a:txBody>
                  <a:tcPr anchor="ctr" anchorCtr="0">
                    <a:lnL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设备编号，设备类型，安装位置，装机容量，投运时间，校准周期，运行状态，通信协议，并网点编号</a:t>
                      </a:r>
                      <a:endParaRPr lang="zh-CN" altLang="en-US" sz="14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设备编号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无</a:t>
                      </a:r>
                      <a:endParaRPr lang="zh-CN" altLang="en-US" sz="14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BCNF</a:t>
                      </a:r>
                      <a:endParaRPr lang="en-US" altLang="zh-CN" sz="14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7004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光伏发电数据</a:t>
                      </a:r>
                      <a:endParaRPr lang="zh-CN" altLang="en-US" sz="1400"/>
                    </a:p>
                  </a:txBody>
                  <a:tcPr anchor="ctr" anchorCtr="0">
                    <a:lnL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数据编号，采集时间，发电量，上网电量，自用电量，逆变器效率，汇流箱组串电压，汇流箱组串电流，设备编号</a:t>
                      </a:r>
                      <a:endParaRPr lang="zh-CN" altLang="en-US" sz="14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数据编号</a:t>
                      </a:r>
                      <a:endParaRPr lang="zh-CN" altLang="en-US" sz="14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设备编号</a:t>
                      </a:r>
                      <a:r>
                        <a:rPr lang="en-US" altLang="zh-CN" sz="1400"/>
                        <a:t> </a:t>
                      </a:r>
                      <a:r>
                        <a:rPr lang="en-US" altLang="en-US" sz="1400"/>
                        <a:t>→</a:t>
                      </a:r>
                      <a:r>
                        <a:rPr lang="en-US" altLang="zh-CN" sz="1400"/>
                        <a:t> </a:t>
                      </a:r>
                      <a:r>
                        <a:rPr lang="zh-CN" altLang="en-US" sz="1400"/>
                        <a:t>光伏设备表</a:t>
                      </a:r>
                      <a:r>
                        <a:rPr lang="en-US" altLang="zh-CN" sz="1400"/>
                        <a:t>(</a:t>
                      </a:r>
                      <a:r>
                        <a:rPr lang="zh-CN" altLang="en-US" sz="1400"/>
                        <a:t>设备编号</a:t>
                      </a:r>
                      <a:r>
                        <a:rPr lang="en-US" altLang="zh-CN" sz="1400"/>
                        <a:t>)</a:t>
                      </a:r>
                      <a:endParaRPr lang="en-US" altLang="zh-CN" sz="14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BCNF</a:t>
                      </a:r>
                      <a:endParaRPr lang="en-US" altLang="zh-CN" sz="14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7004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光伏预测数据</a:t>
                      </a:r>
                      <a:endParaRPr lang="zh-CN" altLang="en-US" sz="1400"/>
                    </a:p>
                  </a:txBody>
                  <a:tcPr anchor="ctr" anchorCtr="0">
                    <a:lnL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预测编号，预测日期，预测时段，预测发电量，实际发电量，预测模型版本，设备编号</a:t>
                      </a:r>
                      <a:endParaRPr lang="zh-CN" altLang="en-US" sz="14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预测编号</a:t>
                      </a:r>
                      <a:endParaRPr lang="zh-CN" altLang="en-US" sz="14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设备编号</a:t>
                      </a:r>
                      <a:r>
                        <a:rPr lang="en-US" altLang="zh-CN" sz="1400"/>
                        <a:t> </a:t>
                      </a:r>
                      <a:r>
                        <a:rPr lang="en-US" altLang="en-US" sz="1400"/>
                        <a:t>→</a:t>
                      </a:r>
                      <a:r>
                        <a:rPr lang="en-US" altLang="zh-CN" sz="1400"/>
                        <a:t> </a:t>
                      </a:r>
                      <a:r>
                        <a:rPr lang="zh-CN" altLang="en-US" sz="1400"/>
                        <a:t>光伏设备表</a:t>
                      </a:r>
                      <a:r>
                        <a:rPr lang="en-US" altLang="zh-CN" sz="1400"/>
                        <a:t>(</a:t>
                      </a:r>
                      <a:r>
                        <a:rPr lang="zh-CN" altLang="en-US" sz="1400"/>
                        <a:t>设备编号</a:t>
                      </a:r>
                      <a:r>
                        <a:rPr lang="en-US" altLang="zh-CN" sz="1400"/>
                        <a:t>)</a:t>
                      </a:r>
                      <a:endParaRPr lang="en-US" altLang="zh-CN" sz="14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BCNF</a:t>
                      </a:r>
                      <a:endParaRPr lang="en-US" altLang="zh-CN" sz="14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7004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光伏发电</a:t>
                      </a:r>
                      <a:r>
                        <a:rPr lang="en-US" altLang="zh-CN" sz="1400"/>
                        <a:t>_</a:t>
                      </a:r>
                      <a:r>
                        <a:rPr lang="zh-CN" altLang="en-US" sz="1400"/>
                        <a:t>预测关联</a:t>
                      </a:r>
                      <a:endParaRPr lang="zh-CN" altLang="en-US" sz="1400"/>
                    </a:p>
                  </a:txBody>
                  <a:tcPr anchor="ctr" anchorCtr="0">
                    <a:lnL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数据编号，预测编号</a:t>
                      </a:r>
                      <a:endParaRPr lang="zh-CN" altLang="en-US" sz="14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数据编号</a:t>
                      </a: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sq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预测编号</a:t>
                      </a:r>
                      <a:r>
                        <a:rPr lang="en-US" altLang="zh-CN" sz="1400"/>
                        <a:t> </a:t>
                      </a:r>
                      <a:r>
                        <a:rPr lang="en-US" altLang="en-US" sz="1400"/>
                        <a:t>→</a:t>
                      </a:r>
                      <a:r>
                        <a:rPr lang="en-US" altLang="zh-CN" sz="1400"/>
                        <a:t> </a:t>
                      </a:r>
                      <a:r>
                        <a:rPr lang="zh-CN" altLang="en-US" sz="1400"/>
                        <a:t>光伏预测数据表</a:t>
                      </a:r>
                      <a:r>
                        <a:rPr lang="en-US" altLang="zh-CN" sz="1400"/>
                        <a:t> (</a:t>
                      </a:r>
                      <a:r>
                        <a:rPr lang="zh-CN" altLang="en-US" sz="1400"/>
                        <a:t>预测编号</a:t>
                      </a:r>
                      <a:r>
                        <a:rPr lang="en-US" altLang="zh-CN" sz="1400"/>
                        <a:t>)</a:t>
                      </a:r>
                      <a:r>
                        <a:rPr lang="zh-CN" altLang="en-US" sz="1400"/>
                        <a:t>，数据编号</a:t>
                      </a:r>
                      <a:r>
                        <a:rPr lang="en-US" altLang="zh-CN" sz="1400"/>
                        <a:t> </a:t>
                      </a:r>
                      <a:r>
                        <a:rPr lang="en-US" altLang="en-US" sz="1400"/>
                        <a:t>→</a:t>
                      </a:r>
                      <a:r>
                        <a:rPr lang="en-US" altLang="zh-CN" sz="1400"/>
                        <a:t> </a:t>
                      </a:r>
                      <a:r>
                        <a:rPr lang="zh-CN" altLang="en-US" sz="1400"/>
                        <a:t>光伏发电数据表</a:t>
                      </a:r>
                      <a:r>
                        <a:rPr lang="en-US" altLang="zh-CN" sz="1400"/>
                        <a:t> (</a:t>
                      </a:r>
                      <a:r>
                        <a:rPr lang="zh-CN" altLang="en-US" sz="1400"/>
                        <a:t>数据编号</a:t>
                      </a:r>
                      <a:r>
                        <a:rPr lang="en-US" altLang="zh-CN" sz="1400"/>
                        <a:t>)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BCNF</a:t>
                      </a:r>
                      <a:endParaRPr lang="en-US" altLang="zh-CN" sz="14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352925" y="6323330"/>
            <a:ext cx="3943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分布式光伏管理业务关系模式汇总表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绿块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22803"/>
          <a:stretch>
            <a:fillRect/>
          </a:stretch>
        </p:blipFill>
        <p:spPr>
          <a:xfrm>
            <a:off x="0" y="-51435"/>
            <a:ext cx="12192000" cy="1031875"/>
          </a:xfrm>
          <a:prstGeom prst="rect">
            <a:avLst/>
          </a:prstGeom>
        </p:spPr>
      </p:pic>
      <p:pic>
        <p:nvPicPr>
          <p:cNvPr id="12" name="图片 11" descr="透明渐变树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379730" y="-635"/>
            <a:ext cx="10378440" cy="7340600"/>
          </a:xfrm>
          <a:prstGeom prst="rect">
            <a:avLst/>
          </a:prstGeom>
        </p:spPr>
      </p:pic>
      <p:pic>
        <p:nvPicPr>
          <p:cNvPr id="18" name="图片 17" descr="bjfu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344535" y="-687070"/>
            <a:ext cx="3847465" cy="22485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68300" y="14224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</a:rPr>
              <a:t>物理结构设计</a:t>
            </a:r>
            <a:endParaRPr lang="zh-CN" altLang="en-US" sz="3600" b="1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85235" y="202883"/>
            <a:ext cx="5080000" cy="52197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分布式光伏管理业务线</a:t>
            </a:r>
            <a:endParaRPr lang="zh-CN" altLang="en-US" sz="28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1257299" y="1819364"/>
          <a:ext cx="936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00"/>
                <a:gridCol w="2340000"/>
                <a:gridCol w="2340000"/>
                <a:gridCol w="2340000"/>
              </a:tblGrid>
              <a:tr h="7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/>
                        <a:t>字段名</a:t>
                      </a:r>
                      <a:endParaRPr lang="zh-CN" altLang="en-US" sz="1600" dirty="0"/>
                    </a:p>
                  </a:txBody>
                  <a:tcPr anchor="ctr">
                    <a:lnL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3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字段中文描述</a:t>
                      </a:r>
                      <a:endParaRPr lang="zh-CN" altLang="en-US" sz="1600" dirty="0"/>
                    </a:p>
                  </a:txBody>
                  <a:tcPr anchor="ctr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3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数据类型</a:t>
                      </a:r>
                      <a:endParaRPr lang="zh-CN" altLang="en-US" sz="1600" dirty="0"/>
                    </a:p>
                  </a:txBody>
                  <a:tcPr anchor="ctr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3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完整性约束</a:t>
                      </a:r>
                      <a:endParaRPr lang="zh-CN" altLang="en-US" sz="1600" dirty="0"/>
                    </a:p>
                  </a:txBody>
                  <a:tcPr anchor="ctr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334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grid_point_id</a:t>
                      </a:r>
                      <a:endParaRPr lang="en-US" altLang="zh-CN" sz="1400" dirty="0"/>
                    </a:p>
                  </a:txBody>
                  <a:tcPr anchor="ctr">
                    <a:lnL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并网点编号</a:t>
                      </a:r>
                      <a:endParaRPr lang="zh-CN" altLang="en-US" sz="1400" dirty="0"/>
                    </a:p>
                  </a:txBody>
                  <a:tcPr anchor="ctr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NVARCHAR(20)</a:t>
                      </a:r>
                      <a:endParaRPr lang="zh-CN" altLang="en-US" sz="1400" dirty="0"/>
                    </a:p>
                  </a:txBody>
                  <a:tcPr anchor="ctr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非空</a:t>
                      </a:r>
                      <a:endParaRPr lang="zh-CN" altLang="en-US" sz="1400" dirty="0"/>
                    </a:p>
                  </a:txBody>
                  <a:tcPr anchor="ctr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model_version</a:t>
                      </a:r>
                      <a:endParaRPr lang="en-US" altLang="zh-CN" sz="1400" dirty="0"/>
                    </a:p>
                  </a:txBody>
                  <a:tcPr anchor="ctr">
                    <a:lnL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预测模型版本</a:t>
                      </a:r>
                      <a:endParaRPr lang="zh-CN" altLang="en-US" sz="1400" dirty="0"/>
                    </a:p>
                  </a:txBody>
                  <a:tcPr anchor="ctr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NVARCHAR(20)</a:t>
                      </a:r>
                      <a:endParaRPr lang="zh-CN" altLang="en-US" sz="1400" dirty="0"/>
                    </a:p>
                  </a:txBody>
                  <a:tcPr anchor="ctr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非空</a:t>
                      </a:r>
                      <a:endParaRPr lang="en-US" altLang="zh-CN" sz="1400" dirty="0"/>
                    </a:p>
                  </a:txBody>
                  <a:tcPr anchor="ctr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inverter_efficiency</a:t>
                      </a:r>
                      <a:endParaRPr lang="en-US" altLang="zh-CN" sz="1400" dirty="0"/>
                    </a:p>
                  </a:txBody>
                  <a:tcPr anchor="ctr">
                    <a:lnL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逆变器效率</a:t>
                      </a:r>
                      <a:endParaRPr lang="zh-CN" altLang="en-US" sz="1400" dirty="0"/>
                    </a:p>
                  </a:txBody>
                  <a:tcPr anchor="ctr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DECIMAL(5,2)</a:t>
                      </a:r>
                      <a:endParaRPr lang="en-US" altLang="zh-CN" sz="1400" dirty="0"/>
                    </a:p>
                  </a:txBody>
                  <a:tcPr anchor="ctr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空</a:t>
                      </a:r>
                      <a:r>
                        <a:rPr lang="en-US" altLang="zh-CN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+CHECK</a:t>
                      </a:r>
                      <a:r>
                        <a:rPr lang="zh-CN" altLang="en-US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约束</a:t>
                      </a:r>
                      <a:r>
                        <a:rPr lang="en-US" altLang="zh-CN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calibration_cycle_month</a:t>
                      </a:r>
                      <a:endParaRPr lang="en-US" altLang="zh-CN" sz="1400" dirty="0"/>
                    </a:p>
                  </a:txBody>
                  <a:tcPr anchor="ctr">
                    <a:lnL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校准周期</a:t>
                      </a:r>
                      <a:endParaRPr lang="zh-CN" altLang="en-US" sz="1400" dirty="0"/>
                    </a:p>
                  </a:txBody>
                  <a:tcPr anchor="ctr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INT</a:t>
                      </a:r>
                      <a:endParaRPr lang="en-US" altLang="zh-CN" sz="1400" dirty="0"/>
                    </a:p>
                  </a:txBody>
                  <a:tcPr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非空</a:t>
                      </a:r>
                      <a:endParaRPr lang="zh-CN" altLang="en-US" sz="1400" dirty="0"/>
                    </a:p>
                  </a:txBody>
                  <a:tcPr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capacity_kwp</a:t>
                      </a:r>
                      <a:endParaRPr lang="en-US" altLang="zh-CN" sz="1400" dirty="0"/>
                    </a:p>
                  </a:txBody>
                  <a:tcPr anchor="ctr">
                    <a:lnL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5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装机容量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5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DECIMAL(5,1)</a:t>
                      </a:r>
                      <a:endParaRPr lang="en-US" altLang="zh-CN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5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非空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+CHECK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约束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5B3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800099" y="1238339"/>
            <a:ext cx="487135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选取该业务线具有代表性的字段，如下表所示：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352925" y="6323330"/>
            <a:ext cx="3943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分布式光伏管理业务部分字段表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绿块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22803"/>
          <a:stretch>
            <a:fillRect/>
          </a:stretch>
        </p:blipFill>
        <p:spPr>
          <a:xfrm>
            <a:off x="0" y="-51435"/>
            <a:ext cx="12192000" cy="1031875"/>
          </a:xfrm>
          <a:prstGeom prst="rect">
            <a:avLst/>
          </a:prstGeom>
        </p:spPr>
      </p:pic>
      <p:pic>
        <p:nvPicPr>
          <p:cNvPr id="12" name="图片 11" descr="透明渐变树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379730" y="-635"/>
            <a:ext cx="10378440" cy="7340600"/>
          </a:xfrm>
          <a:prstGeom prst="rect">
            <a:avLst/>
          </a:prstGeom>
        </p:spPr>
      </p:pic>
      <p:pic>
        <p:nvPicPr>
          <p:cNvPr id="18" name="图片 17" descr="bjfu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344535" y="-687070"/>
            <a:ext cx="3847465" cy="22485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68300" y="14224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</a:rPr>
              <a:t>物理结构设计</a:t>
            </a:r>
            <a:endParaRPr lang="zh-CN" altLang="en-US" sz="3600" b="1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85235" y="202883"/>
            <a:ext cx="5080000" cy="52197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分布式光伏管理业务线</a:t>
            </a:r>
            <a:endParaRPr lang="zh-CN" altLang="en-US" sz="28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617220" y="4510405"/>
            <a:ext cx="10958830" cy="183134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929005" y="1466215"/>
            <a:ext cx="5018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idx_pv_generation_time_device </a:t>
            </a:r>
            <a:r>
              <a:rPr lang="zh-CN" altLang="en-US" dirty="0"/>
              <a:t>复合索引</a:t>
            </a:r>
            <a:endParaRPr lang="zh-CN" altLang="en-US" dirty="0"/>
          </a:p>
        </p:txBody>
      </p:sp>
      <p:sp>
        <p:nvSpPr>
          <p:cNvPr id="14" name="Rectangle 3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929005" y="4702493"/>
            <a:ext cx="10334625" cy="1246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核心目标：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解决分钟级采集的百万级发电数据查询慢问题，避免全表扫描，提升数据检索响应速度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1F2329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设计逻辑：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collected_at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（后置时间倒序）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+device_id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（前置精准定位设备）复合结构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1F2329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核心价值：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支撑单设备历史发电数据追溯、实时运行看板展示等高频操作，降低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IO 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开销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340" y="2169160"/>
            <a:ext cx="10981055" cy="166243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绿块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22803"/>
          <a:stretch>
            <a:fillRect/>
          </a:stretch>
        </p:blipFill>
        <p:spPr>
          <a:xfrm>
            <a:off x="0" y="-51435"/>
            <a:ext cx="12192000" cy="1031875"/>
          </a:xfrm>
          <a:prstGeom prst="rect">
            <a:avLst/>
          </a:prstGeom>
        </p:spPr>
      </p:pic>
      <p:pic>
        <p:nvPicPr>
          <p:cNvPr id="12" name="图片 11" descr="透明渐变树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379730" y="-635"/>
            <a:ext cx="10378440" cy="7340600"/>
          </a:xfrm>
          <a:prstGeom prst="rect">
            <a:avLst/>
          </a:prstGeom>
        </p:spPr>
      </p:pic>
      <p:pic>
        <p:nvPicPr>
          <p:cNvPr id="18" name="图片 17" descr="bjfu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344535" y="-687070"/>
            <a:ext cx="3847465" cy="22485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68300" y="14224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</a:rPr>
              <a:t>物理结构设计</a:t>
            </a:r>
            <a:endParaRPr lang="zh-CN" altLang="en-US" sz="3600" b="1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85235" y="202883"/>
            <a:ext cx="5080000" cy="52197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分布式光伏管理业务线</a:t>
            </a:r>
            <a:endParaRPr lang="zh-CN" altLang="en-US" sz="28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928548" y="1123923"/>
            <a:ext cx="527594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V_PV_Forecast_Deviation </a:t>
            </a:r>
            <a:r>
              <a:rPr lang="zh-CN" altLang="en-US" dirty="0"/>
              <a:t>统计视图</a:t>
            </a:r>
            <a:endParaRPr lang="zh-CN" altLang="en-US" dirty="0"/>
          </a:p>
        </p:txBody>
      </p:sp>
      <p:sp>
        <p:nvSpPr>
          <p:cNvPr id="16" name="矩形: 圆角 15"/>
          <p:cNvSpPr/>
          <p:nvPr>
            <p:custDataLst>
              <p:tags r:id="rId7"/>
            </p:custDataLst>
          </p:nvPr>
        </p:nvSpPr>
        <p:spPr>
          <a:xfrm>
            <a:off x="617855" y="5053965"/>
            <a:ext cx="10958195" cy="165227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4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203325" y="5257165"/>
            <a:ext cx="10243185" cy="1246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核心目标：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+mn-ea"/>
              </a:rPr>
              <a:t>以预测精度分析为核心整合多表数据，简化偏差计算复杂度，统一模型评估口径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rgbClr val="1F2329"/>
              </a:solidFill>
              <a:effectLst/>
              <a:latin typeface="+mn-ea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FF0000"/>
                </a:solidFill>
              </a:rPr>
              <a:t>设计逻辑：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+mn-ea"/>
              </a:rPr>
              <a:t>关联预测表与设备表，自动计算预测偏差值、百分比偏差率，过滤无效数据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rgbClr val="1F2329"/>
              </a:solidFill>
              <a:effectLst/>
              <a:latin typeface="+mn-ea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核心价值：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支撑数据分析师模型优化决策与预测质量管控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370" y="1492250"/>
            <a:ext cx="10176510" cy="339217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绿块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22803"/>
          <a:stretch>
            <a:fillRect/>
          </a:stretch>
        </p:blipFill>
        <p:spPr>
          <a:xfrm>
            <a:off x="0" y="-51435"/>
            <a:ext cx="12192000" cy="1031875"/>
          </a:xfrm>
          <a:prstGeom prst="rect">
            <a:avLst/>
          </a:prstGeom>
        </p:spPr>
      </p:pic>
      <p:pic>
        <p:nvPicPr>
          <p:cNvPr id="12" name="图片 11" descr="透明渐变树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401502" y="-32657"/>
            <a:ext cx="10378440" cy="7340600"/>
          </a:xfrm>
          <a:prstGeom prst="rect">
            <a:avLst/>
          </a:prstGeom>
        </p:spPr>
      </p:pic>
      <p:pic>
        <p:nvPicPr>
          <p:cNvPr id="18" name="图片 17" descr="bjfu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344535" y="-687070"/>
            <a:ext cx="3847465" cy="22485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68300" y="14224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</a:rPr>
              <a:t>数据库实施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85235" y="202883"/>
            <a:ext cx="5080000" cy="52197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分布式光伏管理业务线</a:t>
            </a:r>
            <a:endParaRPr lang="zh-CN" altLang="en-US" sz="28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660400" y="5048250"/>
            <a:ext cx="10857865" cy="1584325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472108" y="1040594"/>
            <a:ext cx="465364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trg_pv_generation_insert </a:t>
            </a:r>
            <a:r>
              <a:rPr lang="zh-CN" altLang="en-US" dirty="0"/>
              <a:t>触发器</a:t>
            </a:r>
            <a:endParaRPr lang="zh-CN" altLang="en-US" dirty="0"/>
          </a:p>
        </p:txBody>
      </p:sp>
      <p:sp>
        <p:nvSpPr>
          <p:cNvPr id="2" name="Rectangle 1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922020" y="5172075"/>
            <a:ext cx="10935970" cy="1246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触发场景：</a:t>
            </a:r>
            <a:r>
              <a:rPr kumimoji="0" lang="zh-CN" altLang="en-US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+mn-ea"/>
              </a:rPr>
              <a:t>光伏发电数据表新增发电记录后</a:t>
            </a:r>
            <a:endParaRPr kumimoji="0" lang="zh-CN" altLang="en-US" i="0" u="none" strike="noStrike" cap="none" normalizeH="0" baseline="0" dirty="0">
              <a:ln>
                <a:noFill/>
              </a:ln>
              <a:solidFill>
                <a:srgbClr val="1F2329"/>
              </a:solidFill>
              <a:effectLst/>
              <a:latin typeface="+mn-ea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核心逻辑：</a:t>
            </a:r>
            <a:r>
              <a:rPr kumimoji="0" lang="zh-CN" altLang="en-US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+mn-ea"/>
              </a:rPr>
              <a:t>关联光伏设备信息表，提取新增记录中的设备编号，自动将对应设备的运行状态更新为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+mn-ea"/>
              </a:rPr>
              <a:t>Active</a:t>
            </a:r>
            <a:endParaRPr kumimoji="0" lang="zh-CN" altLang="en-US" i="0" u="none" strike="noStrike" cap="none" normalizeH="0" baseline="0" dirty="0">
              <a:ln>
                <a:noFill/>
              </a:ln>
              <a:solidFill>
                <a:srgbClr val="1F2329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业务价值：</a:t>
            </a:r>
            <a:r>
              <a:rPr kumimoji="0" lang="zh-CN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替代人工手动维护设备状态，实时同步设备运行状态与发电数据</a:t>
            </a:r>
            <a:endParaRPr kumimoji="0" lang="zh-CN" altLang="zh-CN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1270" y="1561465"/>
            <a:ext cx="9648825" cy="325755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绿块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22803"/>
          <a:stretch>
            <a:fillRect/>
          </a:stretch>
        </p:blipFill>
        <p:spPr>
          <a:xfrm>
            <a:off x="0" y="-51435"/>
            <a:ext cx="12192000" cy="1031875"/>
          </a:xfrm>
          <a:prstGeom prst="rect">
            <a:avLst/>
          </a:prstGeom>
        </p:spPr>
      </p:pic>
      <p:pic>
        <p:nvPicPr>
          <p:cNvPr id="12" name="图片 11" descr="透明渐变树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401502" y="-32657"/>
            <a:ext cx="10378440" cy="7340600"/>
          </a:xfrm>
          <a:prstGeom prst="rect">
            <a:avLst/>
          </a:prstGeom>
        </p:spPr>
      </p:pic>
      <p:pic>
        <p:nvPicPr>
          <p:cNvPr id="18" name="图片 17" descr="bjfu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344535" y="-687070"/>
            <a:ext cx="3847465" cy="22485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68300" y="14224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</a:rPr>
              <a:t>数据库实施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85235" y="202883"/>
            <a:ext cx="5080000" cy="52197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分布式光伏管理业务线</a:t>
            </a:r>
            <a:endParaRPr lang="zh-CN" altLang="en-US" sz="28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1472035" y="1076644"/>
            <a:ext cx="646078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sp_daily_pv_summary</a:t>
            </a:r>
            <a:r>
              <a:rPr lang="zh-CN" altLang="en-US" dirty="0"/>
              <a:t>存储过程</a:t>
            </a:r>
            <a:endParaRPr lang="zh-CN" altLang="en-US" dirty="0"/>
          </a:p>
        </p:txBody>
      </p:sp>
      <p:sp>
        <p:nvSpPr>
          <p:cNvPr id="16" name="矩形: 圆角 15"/>
          <p:cNvSpPr/>
          <p:nvPr>
            <p:custDataLst>
              <p:tags r:id="rId7"/>
            </p:custDataLst>
          </p:nvPr>
        </p:nvSpPr>
        <p:spPr>
          <a:xfrm>
            <a:off x="699770" y="4811395"/>
            <a:ext cx="11014075" cy="181610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968375" y="5096510"/>
            <a:ext cx="10575290" cy="1246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功能定位：</a:t>
            </a:r>
            <a:r>
              <a:rPr kumimoji="0" lang="zh-CN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按指定日期，一键查询所有光伏设备当日总发电量统计数据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endParaRPr kumimoji="0" lang="zh-CN" altLang="zh-CN" i="0" u="none" strike="noStrike" cap="none" normalizeH="0" baseline="0" dirty="0">
              <a:ln>
                <a:noFill/>
              </a:ln>
              <a:solidFill>
                <a:srgbClr val="1F2329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核心设计：</a:t>
            </a:r>
            <a:r>
              <a:rPr kumimoji="0" lang="zh-CN" altLang="en-US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+mn-ea"/>
              </a:rPr>
              <a:t>筛选光伏发电数据表中对应日期的记录，按设备编号分组，返回设备编号与总发电量关联结果</a:t>
            </a:r>
            <a:endParaRPr kumimoji="0" lang="zh-CN" altLang="en-US" i="0" u="none" strike="noStrike" cap="none" normalizeH="0" baseline="0" dirty="0">
              <a:ln>
                <a:noFill/>
              </a:ln>
              <a:solidFill>
                <a:srgbClr val="1F2329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业务价值：</a:t>
            </a:r>
            <a:r>
              <a:rPr kumimoji="0" lang="zh-CN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简化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SQL </a:t>
            </a:r>
            <a:r>
              <a:rPr kumimoji="0" lang="zh-CN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编写，避免重复开发分组聚合逻辑，提升数据统计效率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endParaRPr kumimoji="0" lang="zh-CN" altLang="zh-CN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8620" y="1677670"/>
            <a:ext cx="9096375" cy="284797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PLACING_PICTURE_USER_VIEWPORT" val="{&quot;height&quot;:2105,&quot;width&quot;:19200}"/>
</p:tagLst>
</file>

<file path=ppt/tags/tag64.xml><?xml version="1.0" encoding="utf-8"?>
<p:tagLst xmlns:p="http://schemas.openxmlformats.org/presentationml/2006/main">
  <p:tag name="KSO_WM_UNIT_PLACING_PICTURE_USER_VIEWPORT" val="{&quot;height&quot;:3541,&quot;width&quot;:6059}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PLACING_PICTURE_USER_VIEWPORT" val="{&quot;height&quot;:2105,&quot;width&quot;:19200}"/>
</p:tagLst>
</file>

<file path=ppt/tags/tag67.xml><?xml version="1.0" encoding="utf-8"?>
<p:tagLst xmlns:p="http://schemas.openxmlformats.org/presentationml/2006/main">
  <p:tag name="KSO_WM_UNIT_PLACING_PICTURE_USER_VIEWPORT" val="{&quot;height&quot;:3541,&quot;width&quot;:6059}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UNIT_PLACING_PICTURE_USER_VIEWPORT" val="{&quot;height&quot;:2105,&quot;width&quot;:19200}"/>
</p:tagLst>
</file>

<file path=ppt/tags/tag70.xml><?xml version="1.0" encoding="utf-8"?>
<p:tagLst xmlns:p="http://schemas.openxmlformats.org/presentationml/2006/main">
  <p:tag name="KSO_WM_UNIT_PLACING_PICTURE_USER_VIEWPORT" val="{&quot;height&quot;:3541,&quot;width&quot;:6059}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UNIT_PLACING_PICTURE_USER_VIEWPORT" val="{&quot;height&quot;:2105,&quot;width&quot;:19200}"/>
</p:tagLst>
</file>

<file path=ppt/tags/tag73.xml><?xml version="1.0" encoding="utf-8"?>
<p:tagLst xmlns:p="http://schemas.openxmlformats.org/presentationml/2006/main">
  <p:tag name="KSO_WM_UNIT_PLACING_PICTURE_USER_VIEWPORT" val="{&quot;height&quot;:3541,&quot;width&quot;:6059}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UNIT_PLACING_PICTURE_USER_VIEWPORT" val="{&quot;height&quot;:2105,&quot;width&quot;:19200}"/>
</p:tagLst>
</file>

<file path=ppt/tags/tag76.xml><?xml version="1.0" encoding="utf-8"?>
<p:tagLst xmlns:p="http://schemas.openxmlformats.org/presentationml/2006/main">
  <p:tag name="KSO_WM_UNIT_PLACING_PICTURE_USER_VIEWPORT" val="{&quot;height&quot;:3541,&quot;width&quot;:6059}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UNIT_PLACING_PICTURE_USER_VIEWPORT" val="{&quot;height&quot;:2105,&quot;width&quot;:19200}"/>
</p:tagLst>
</file>

<file path=ppt/tags/tag79.xml><?xml version="1.0" encoding="utf-8"?>
<p:tagLst xmlns:p="http://schemas.openxmlformats.org/presentationml/2006/main">
  <p:tag name="KSO_WM_UNIT_PLACING_PICTURE_USER_VIEWPORT" val="{&quot;height&quot;:3541,&quot;width&quot;:6059}"/>
</p:tagLst>
</file>

<file path=ppt/tags/tag80.xml><?xml version="1.0" encoding="utf-8"?>
<p:tagLst xmlns:p="http://schemas.openxmlformats.org/presentationml/2006/main">
  <p:tag name="KSO_WM_DIAGRAM_VIRTUALLY_FRAME" val="{&quot;height&quot;:428.6,&quot;left&quot;:48.6,&quot;top&quot;:99.45,&quot;width&quot;:862.9}"/>
</p:tagLst>
</file>

<file path=ppt/tags/tag81.xml><?xml version="1.0" encoding="utf-8"?>
<p:tagLst xmlns:p="http://schemas.openxmlformats.org/presentationml/2006/main">
  <p:tag name="KSO_WM_DIAGRAM_VIRTUALLY_FRAME" val="{&quot;height&quot;:428.6,&quot;left&quot;:48.6,&quot;top&quot;:99.45,&quot;width&quot;:862.9}"/>
</p:tagLst>
</file>

<file path=ppt/tags/tag82.xml><?xml version="1.0" encoding="utf-8"?>
<p:tagLst xmlns:p="http://schemas.openxmlformats.org/presentationml/2006/main">
  <p:tag name="KSO_WM_DIAGRAM_VIRTUALLY_FRAME" val="{&quot;height&quot;:428.6,&quot;left&quot;:48.6,&quot;top&quot;:99.45,&quot;width&quot;:862.9}"/>
</p:tagLst>
</file>

<file path=ppt/tags/tag8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4.xml><?xml version="1.0" encoding="utf-8"?>
<p:tagLst xmlns:p="http://schemas.openxmlformats.org/presentationml/2006/main">
  <p:tag name="KSO_WM_UNIT_PLACING_PICTURE_USER_VIEWPORT" val="{&quot;height&quot;:2105,&quot;width&quot;:19200}"/>
</p:tagLst>
</file>

<file path=ppt/tags/tag85.xml><?xml version="1.0" encoding="utf-8"?>
<p:tagLst xmlns:p="http://schemas.openxmlformats.org/presentationml/2006/main">
  <p:tag name="KSO_WM_UNIT_PLACING_PICTURE_USER_VIEWPORT" val="{&quot;height&quot;:3541,&quot;width&quot;:6059}"/>
</p:tagLst>
</file>

<file path=ppt/tags/tag86.xml><?xml version="1.0" encoding="utf-8"?>
<p:tagLst xmlns:p="http://schemas.openxmlformats.org/presentationml/2006/main">
  <p:tag name="KSO_WM_DIAGRAM_VIRTUALLY_FRAME" val="{&quot;height&quot;:428.6,&quot;left&quot;:48.6,&quot;top&quot;:99.45,&quot;width&quot;:862.9}"/>
</p:tagLst>
</file>

<file path=ppt/tags/tag87.xml><?xml version="1.0" encoding="utf-8"?>
<p:tagLst xmlns:p="http://schemas.openxmlformats.org/presentationml/2006/main">
  <p:tag name="KSO_WM_DIAGRAM_VIRTUALLY_FRAME" val="{&quot;height&quot;:428.6,&quot;left&quot;:48.6,&quot;top&quot;:99.45,&quot;width&quot;:862.9}"/>
</p:tagLst>
</file>

<file path=ppt/tags/tag88.xml><?xml version="1.0" encoding="utf-8"?>
<p:tagLst xmlns:p="http://schemas.openxmlformats.org/presentationml/2006/main">
  <p:tag name="KSO_WM_DIAGRAM_VIRTUALLY_FRAME" val="{&quot;height&quot;:428.6,&quot;left&quot;:48.6,&quot;top&quot;:99.45,&quot;width&quot;:862.9}"/>
</p:tagLst>
</file>

<file path=ppt/tags/tag8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0.xml><?xml version="1.0" encoding="utf-8"?>
<p:tagLst xmlns:p="http://schemas.openxmlformats.org/presentationml/2006/main">
  <p:tag name="KSO_WM_UNIT_PLACING_PICTURE_USER_VIEWPORT" val="{&quot;height&quot;:2105,&quot;width&quot;:19200}"/>
</p:tagLst>
</file>

<file path=ppt/tags/tag91.xml><?xml version="1.0" encoding="utf-8"?>
<p:tagLst xmlns:p="http://schemas.openxmlformats.org/presentationml/2006/main">
  <p:tag name="KSO_WM_UNIT_PLACING_PICTURE_USER_VIEWPORT" val="{&quot;height&quot;:3541,&quot;width&quot;:6059}"/>
</p:tagLst>
</file>

<file path=ppt/tags/tag92.xml><?xml version="1.0" encoding="utf-8"?>
<p:tagLst xmlns:p="http://schemas.openxmlformats.org/presentationml/2006/main">
  <p:tag name="KSO_WM_DIAGRAM_VIRTUALLY_FRAME" val="{&quot;height&quot;:400.4134645669291,&quot;left&quot;:66.9,&quot;top&quot;:99.43653543307087,&quot;width&quot;:823.1}"/>
</p:tagLst>
</file>

<file path=ppt/tags/tag93.xml><?xml version="1.0" encoding="utf-8"?>
<p:tagLst xmlns:p="http://schemas.openxmlformats.org/presentationml/2006/main">
  <p:tag name="KSO_WM_DIAGRAM_VIRTUALLY_FRAME" val="{&quot;height&quot;:400.4134645669291,&quot;left&quot;:66.9,&quot;top&quot;:99.43653543307087,&quot;width&quot;:823.1}"/>
</p:tagLst>
</file>

<file path=ppt/tags/tag94.xml><?xml version="1.0" encoding="utf-8"?>
<p:tagLst xmlns:p="http://schemas.openxmlformats.org/presentationml/2006/main">
  <p:tag name="KSO_WM_DIAGRAM_VIRTUALLY_FRAME" val="{&quot;height&quot;:400.4134645669291,&quot;left&quot;:66.9,&quot;top&quot;:99.43653543307087,&quot;width&quot;:823.1}"/>
</p:tagLst>
</file>

<file path=ppt/tags/tag9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6.xml><?xml version="1.0" encoding="utf-8"?>
<p:tagLst xmlns:p="http://schemas.openxmlformats.org/presentationml/2006/main">
  <p:tag name="KSO_WM_UNIT_PLACING_PICTURE_USER_VIEWPORT" val="{&quot;height&quot;:2105,&quot;width&quot;:19200}"/>
</p:tagLst>
</file>

<file path=ppt/tags/tag97.xml><?xml version="1.0" encoding="utf-8"?>
<p:tagLst xmlns:p="http://schemas.openxmlformats.org/presentationml/2006/main">
  <p:tag name="KSO_WM_UNIT_PLACING_PICTURE_USER_VIEWPORT" val="{&quot;height&quot;:3541,&quot;width&quot;:6059}"/>
</p:tagLst>
</file>

<file path=ppt/tags/tag98.xml><?xml version="1.0" encoding="utf-8"?>
<p:tagLst xmlns:p="http://schemas.openxmlformats.org/presentationml/2006/main">
  <p:tag name="KSO_WM_DIAGRAM_VIRTUALLY_FRAME" val="{&quot;height&quot;:437.0748818897638,&quot;left&quot;:55.1,&quot;top&quot;:84.77511811023624,&quot;width&quot;:867.25}"/>
</p:tagLst>
</file>

<file path=ppt/tags/tag99.xml><?xml version="1.0" encoding="utf-8"?>
<p:tagLst xmlns:p="http://schemas.openxmlformats.org/presentationml/2006/main">
  <p:tag name="KSO_WM_DIAGRAM_VIRTUALLY_FRAME" val="{&quot;height&quot;:437.0748818897638,&quot;left&quot;:55.1,&quot;top&quot;:84.77511811023624,&quot;width&quot;:867.25}"/>
</p:tagLst>
</file>

<file path=ppt/tags/tag100.xml><?xml version="1.0" encoding="utf-8"?>
<p:tagLst xmlns:p="http://schemas.openxmlformats.org/presentationml/2006/main">
  <p:tag name="KSO_WM_DIAGRAM_VIRTUALLY_FRAME" val="{&quot;height&quot;:437.0748818897638,&quot;left&quot;:55.1,&quot;top&quot;:84.77511811023624,&quot;width&quot;:867.25}"/>
</p:tagLst>
</file>

<file path=ppt/tags/tag10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1496</Words>
  <Application>WPS 演示</Application>
  <PresentationFormat>宽屏</PresentationFormat>
  <Paragraphs>183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黑体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温柔</cp:lastModifiedBy>
  <cp:revision>162</cp:revision>
  <dcterms:created xsi:type="dcterms:W3CDTF">2019-06-19T02:08:00Z</dcterms:created>
  <dcterms:modified xsi:type="dcterms:W3CDTF">2026-01-06T05:18:53Z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20A760E7B74F4794B3A52F61BB443D2D_13</vt:lpwstr>
  </property>
</Properties>
</file>